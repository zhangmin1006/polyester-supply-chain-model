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57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03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36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67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97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28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56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37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60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16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04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1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5720C-8705-44FA-B8AA-AB89F5A21FB2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AEF99-CC56-464D-9D6E-335C9B18FA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54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29"/>
          <a:stretch/>
        </p:blipFill>
        <p:spPr>
          <a:xfrm>
            <a:off x="6458383" y="264359"/>
            <a:ext cx="5403879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2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379" y="413969"/>
            <a:ext cx="5407621" cy="644403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595360" y="3898670"/>
            <a:ext cx="3596640" cy="22860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8595360" y="6226235"/>
            <a:ext cx="1454727" cy="59020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2" idx="1"/>
            <a:endCxn id="24" idx="3"/>
          </p:cNvCxnSpPr>
          <p:nvPr/>
        </p:nvCxnSpPr>
        <p:spPr>
          <a:xfrm rot="10800000">
            <a:off x="6143104" y="4287348"/>
            <a:ext cx="2452256" cy="75432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1" idx="1"/>
          </p:cNvCxnSpPr>
          <p:nvPr/>
        </p:nvCxnSpPr>
        <p:spPr>
          <a:xfrm rot="10800000">
            <a:off x="681644" y="1601472"/>
            <a:ext cx="7913723" cy="4919867"/>
          </a:xfrm>
          <a:prstGeom prst="bentConnector3">
            <a:avLst>
              <a:gd name="adj1" fmla="val 102889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1643" y="324198"/>
            <a:ext cx="5461461" cy="25545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Saudi oil and gas largely produced by Saudi Aramco.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It is majority state-owned but is publicly listed.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Natural gas is transported by pipeline to be processed by SABIC.</a:t>
            </a:r>
            <a:endParaRPr lang="en-GB" sz="2000" dirty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643" y="3010075"/>
            <a:ext cx="5461461" cy="255454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SABIC subsidiary United (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Jubail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 United Petrochemical Company) is the main producer of ethylene glycol.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Nearby ports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Jubail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 (commercial)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King Fahd (Industrial) and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Dammam (Industrial)</a:t>
            </a:r>
            <a:endParaRPr lang="en-GB" sz="2000" dirty="0">
              <a:latin typeface="Verdana" panose="020B0604030504040204" pitchFamily="34" charset="0"/>
              <a:ea typeface="Verdana" panose="020B060403050404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0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681643" y="759623"/>
            <a:ext cx="5461461" cy="563231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Yizheng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 Chemical Fibre is the largest producer of polyester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fibres.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They are publicly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listed and a subsidiary of Sinopec.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Nearby ports and daily (Feb 2022) ethylene glycol inventories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Zhangjiagang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 (418 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kt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Jianyin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 &amp; Changzhou (134 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kt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Taicang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 (85 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kt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Ningbo (51 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kt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SA to </a:t>
            </a: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Zhangjiagang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  <a:cs typeface="Microsoft Tai Le" panose="020B0502040204020203" pitchFamily="34" charset="0"/>
              </a:rPr>
              <a:t>, CN – 23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  <a:cs typeface="Microsoft Tai Le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622" y="-14216"/>
            <a:ext cx="5450378" cy="68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5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43760" b="20931"/>
          <a:stretch/>
        </p:blipFill>
        <p:spPr>
          <a:xfrm>
            <a:off x="8917382" y="904422"/>
            <a:ext cx="3041265" cy="509521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780288" y="4920343"/>
            <a:ext cx="1446414" cy="112283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stCxn id="2" idx="1"/>
            <a:endCxn id="14" idx="1"/>
          </p:cNvCxnSpPr>
          <p:nvPr/>
        </p:nvCxnSpPr>
        <p:spPr>
          <a:xfrm rot="10800000">
            <a:off x="357448" y="1838485"/>
            <a:ext cx="8422841" cy="3643276"/>
          </a:xfrm>
          <a:prstGeom prst="bentConnector3">
            <a:avLst>
              <a:gd name="adj1" fmla="val 102714"/>
            </a:avLst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7447" y="407324"/>
            <a:ext cx="4272609" cy="2862322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Saudi, UAE and Kuwait export to SK and Japan.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main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receiving oil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ports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Ulsan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Gwangyang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, 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Chiba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, JP, and 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Kawasaki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, JP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80288" y="4329899"/>
            <a:ext cx="1446414" cy="527451"/>
          </a:xfrm>
          <a:prstGeom prst="rect">
            <a:avLst/>
          </a:prstGeom>
          <a:noFill/>
          <a:ln w="28575">
            <a:solidFill>
              <a:srgbClr val="AC8E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/>
          <p:cNvCxnSpPr>
            <a:stCxn id="6" idx="1"/>
            <a:endCxn id="20" idx="2"/>
          </p:cNvCxnSpPr>
          <p:nvPr/>
        </p:nvCxnSpPr>
        <p:spPr>
          <a:xfrm rot="10800000">
            <a:off x="7160888" y="3269647"/>
            <a:ext cx="1619401" cy="1323979"/>
          </a:xfrm>
          <a:prstGeom prst="bentConnector2">
            <a:avLst/>
          </a:prstGeom>
          <a:ln w="28575">
            <a:solidFill>
              <a:srgbClr val="AC8E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16516" y="407324"/>
            <a:ext cx="4488741" cy="2862322"/>
          </a:xfrm>
          <a:prstGeom prst="rect">
            <a:avLst/>
          </a:prstGeom>
          <a:noFill/>
          <a:ln w="28575">
            <a:solidFill>
              <a:srgbClr val="AC8EA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Yinzheng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 Chemical Fibre production capacity of terephthalic acid is several million tonnes pa.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So, assume the Xylene is being shipped into the sam</a:t>
            </a:r>
            <a:r>
              <a:rPr lang="en-GB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e ports as before.</a:t>
            </a:r>
            <a:endParaRPr lang="en-GB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32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9288" b="2843"/>
          <a:stretch/>
        </p:blipFill>
        <p:spPr>
          <a:xfrm>
            <a:off x="0" y="0"/>
            <a:ext cx="12267002" cy="68652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rcRect l="81469" t="10409" b="68487"/>
          <a:stretch/>
        </p:blipFill>
        <p:spPr>
          <a:xfrm>
            <a:off x="8360229" y="0"/>
            <a:ext cx="3906773" cy="206853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H="1">
            <a:off x="7694385" y="532494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4685" y="270884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17 Days</a:t>
            </a:r>
            <a:endParaRPr lang="en-GB" sz="2800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7694385" y="1055714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84685" y="794104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2 Days</a:t>
            </a:r>
            <a:endParaRPr lang="en-GB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694385" y="1503061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84685" y="1241451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37 Days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2733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36" r="18906" b="6422"/>
          <a:stretch/>
        </p:blipFill>
        <p:spPr>
          <a:xfrm>
            <a:off x="0" y="0"/>
            <a:ext cx="12267002" cy="6848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80781" t="9692" b="64858"/>
          <a:stretch/>
        </p:blipFill>
        <p:spPr>
          <a:xfrm>
            <a:off x="8248058" y="0"/>
            <a:ext cx="4018944" cy="25812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H="1">
            <a:off x="7810500" y="590550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328940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17 Days</a:t>
            </a:r>
            <a:endParaRPr lang="en-GB" sz="2800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7810500" y="1113770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852160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2 Days</a:t>
            </a:r>
            <a:endParaRPr lang="en-GB" sz="28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810500" y="1561117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1299507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13 Days</a:t>
            </a:r>
            <a:endParaRPr lang="en-GB" sz="2800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7810500" y="2050015"/>
            <a:ext cx="876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1788405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 smtClean="0"/>
              <a:t>28 Days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5501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5f7a1d-c73b-45b3-9f56-57ecc4d8c45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BB6D1F27F0CA45AA80681783759218" ma:contentTypeVersion="10" ma:contentTypeDescription="Create a new document." ma:contentTypeScope="" ma:versionID="94a4882f1f304bb6aa12a19b21ccf6ed">
  <xsd:schema xmlns:xsd="http://www.w3.org/2001/XMLSchema" xmlns:xs="http://www.w3.org/2001/XMLSchema" xmlns:p="http://schemas.microsoft.com/office/2006/metadata/properties" xmlns:ns2="a75f7a1d-c73b-45b3-9f56-57ecc4d8c453" targetNamespace="http://schemas.microsoft.com/office/2006/metadata/properties" ma:root="true" ma:fieldsID="d83eac10ba076c7c346774dea870b203" ns2:_="">
    <xsd:import namespace="a75f7a1d-c73b-45b3-9f56-57ecc4d8c4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5f7a1d-c73b-45b3-9f56-57ecc4d8c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49ff12-39f2-416e-aa91-245a66e610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89A28-8C85-4512-800A-C26E371A2FE7}">
  <ds:schemaRefs>
    <ds:schemaRef ds:uri="http://purl.org/dc/dcmitype/"/>
    <ds:schemaRef ds:uri="9f3ed562-b933-481e-8208-9de0e6c41c4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05820f22-5647-4131-ad72-749529ebc047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277294A-E9AB-45BA-8F27-244FB398FE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1A4DC-3CFF-4A1A-A65B-5D54D3494A99}"/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207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Microsoft Tai Le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Reece Griffith</dc:creator>
  <cp:lastModifiedBy>Reece Griffith</cp:lastModifiedBy>
  <cp:revision>15</cp:revision>
  <dcterms:created xsi:type="dcterms:W3CDTF">2024-12-18T11:01:24Z</dcterms:created>
  <dcterms:modified xsi:type="dcterms:W3CDTF">2024-12-18T13:24:16Z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0x01010014BB6D1F27F0CA45AA80681783759218</vt:lpwstr>
  </property>
</Properties>
</file>